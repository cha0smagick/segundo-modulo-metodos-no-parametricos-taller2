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12192000"/>
  <p:notesSz cx="6858000" cy="9144000"/>
  <p:embeddedFontLst>
    <p:embeddedFont>
      <p:font typeface="Montserrat"/>
      <p:regular r:id="rId39"/>
      <p:bold r:id="rId40"/>
      <p:italic r:id="rId41"/>
      <p:boldItalic r:id="rId42"/>
    </p:embeddedFont>
    <p:embeddedFont>
      <p:font typeface="Crimson Pro"/>
      <p:regular r:id="rId43"/>
      <p:bold r:id="rId44"/>
      <p:italic r:id="rId45"/>
      <p:boldItalic r:id="rId46"/>
    </p:embeddedFont>
    <p:embeddedFont>
      <p:font typeface="Crimson Pro SemiBold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0C47A9-7102-4A56-ABB5-331E24179241}">
  <a:tblStyle styleId="{2C0C47A9-7102-4A56-ABB5-331E2417924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.fntdata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italic.fntdata"/><Relationship Id="rId44" Type="http://schemas.openxmlformats.org/officeDocument/2006/relationships/font" Target="fonts/CrimsonPro-bold.fntdata"/><Relationship Id="rId43" Type="http://schemas.openxmlformats.org/officeDocument/2006/relationships/font" Target="fonts/CrimsonPro-regular.fntdata"/><Relationship Id="rId46" Type="http://schemas.openxmlformats.org/officeDocument/2006/relationships/font" Target="fonts/CrimsonPro-boldItalic.fntdata"/><Relationship Id="rId45" Type="http://schemas.openxmlformats.org/officeDocument/2006/relationships/font" Target="fonts/CrimsonPr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CrimsonProSemiBold-bold.fntdata"/><Relationship Id="rId47" Type="http://schemas.openxmlformats.org/officeDocument/2006/relationships/font" Target="fonts/CrimsonProSemiBold-regular.fntdata"/><Relationship Id="rId49" Type="http://schemas.openxmlformats.org/officeDocument/2006/relationships/font" Target="fonts/CrimsonProSemiBol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Montserrat-regular.fntdata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CrimsonPro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75ca5467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e75ca5467d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74a0040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e74a00405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d3414d94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ed3414d947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d3414d947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ed3414d947_0_2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d3414d947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ed3414d947_0_2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d3414d947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ed3414d947_0_3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ed3414d94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ed3414d947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ed3414d94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ed3414d947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ed3414d947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ed3414d947_0_4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e75f385c92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e75f385c92_1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40.png"/><Relationship Id="rId7" Type="http://schemas.openxmlformats.org/officeDocument/2006/relationships/image" Target="../media/image24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10" Type="http://schemas.openxmlformats.org/officeDocument/2006/relationships/image" Target="../media/image12.png"/><Relationship Id="rId9" Type="http://schemas.openxmlformats.org/officeDocument/2006/relationships/image" Target="../media/image18.png"/><Relationship Id="rId5" Type="http://schemas.openxmlformats.org/officeDocument/2006/relationships/image" Target="../media/image2.png"/><Relationship Id="rId6" Type="http://schemas.openxmlformats.org/officeDocument/2006/relationships/image" Target="../media/image32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30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31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54.png"/><Relationship Id="rId5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Relationship Id="rId5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Relationship Id="rId5" Type="http://schemas.openxmlformats.org/officeDocument/2006/relationships/image" Target="../media/image5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27.png"/><Relationship Id="rId6" Type="http://schemas.openxmlformats.org/officeDocument/2006/relationships/image" Target="../media/image59.png"/><Relationship Id="rId7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44.png"/><Relationship Id="rId5" Type="http://schemas.openxmlformats.org/officeDocument/2006/relationships/image" Target="../media/image5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52.png"/><Relationship Id="rId5" Type="http://schemas.openxmlformats.org/officeDocument/2006/relationships/image" Target="../media/image3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3.png"/><Relationship Id="rId4" Type="http://schemas.openxmlformats.org/officeDocument/2006/relationships/image" Target="../media/image6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png"/><Relationship Id="rId4" Type="http://schemas.openxmlformats.org/officeDocument/2006/relationships/image" Target="../media/image49.png"/><Relationship Id="rId5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6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63.png"/><Relationship Id="rId11" Type="http://schemas.openxmlformats.org/officeDocument/2006/relationships/image" Target="../media/image47.png"/><Relationship Id="rId10" Type="http://schemas.openxmlformats.org/officeDocument/2006/relationships/image" Target="../media/image57.png"/><Relationship Id="rId9" Type="http://schemas.openxmlformats.org/officeDocument/2006/relationships/image" Target="../media/image45.png"/><Relationship Id="rId5" Type="http://schemas.openxmlformats.org/officeDocument/2006/relationships/image" Target="../media/image42.png"/><Relationship Id="rId6" Type="http://schemas.openxmlformats.org/officeDocument/2006/relationships/image" Target="../media/image68.png"/><Relationship Id="rId7" Type="http://schemas.openxmlformats.org/officeDocument/2006/relationships/image" Target="../media/image41.png"/><Relationship Id="rId8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71.png"/><Relationship Id="rId5" Type="http://schemas.openxmlformats.org/officeDocument/2006/relationships/image" Target="../media/image4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1.png"/><Relationship Id="rId4" Type="http://schemas.openxmlformats.org/officeDocument/2006/relationships/image" Target="../media/image6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7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Relationship Id="rId4" Type="http://schemas.openxmlformats.org/officeDocument/2006/relationships/image" Target="../media/image7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Relationship Id="rId4" Type="http://schemas.openxmlformats.org/officeDocument/2006/relationships/image" Target="../media/image61.png"/><Relationship Id="rId5" Type="http://schemas.openxmlformats.org/officeDocument/2006/relationships/image" Target="../media/image70.png"/><Relationship Id="rId6" Type="http://schemas.openxmlformats.org/officeDocument/2006/relationships/image" Target="../media/image5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Relationship Id="rId4" Type="http://schemas.openxmlformats.org/officeDocument/2006/relationships/image" Target="../media/image67.png"/><Relationship Id="rId5" Type="http://schemas.openxmlformats.org/officeDocument/2006/relationships/image" Target="../media/image66.png"/><Relationship Id="rId6" Type="http://schemas.openxmlformats.org/officeDocument/2006/relationships/image" Target="../media/image5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Relationship Id="rId4" Type="http://schemas.openxmlformats.org/officeDocument/2006/relationships/image" Target="../media/image55.png"/><Relationship Id="rId5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762125" y="1319361"/>
            <a:ext cx="876300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ED8936"/>
                </a:solidFill>
                <a:latin typeface="Crimson Pro"/>
                <a:ea typeface="Crimson Pro"/>
                <a:cs typeface="Crimson Pro"/>
                <a:sym typeface="Crimson Pro"/>
              </a:rPr>
              <a:t>MAESTRÍA EN ANALÍTICA DE DATOS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762125" y="1620291"/>
            <a:ext cx="9201300" cy="18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¿ATRAPALOS A TODOS? </a:t>
            </a:r>
            <a:br>
              <a:rPr b="0" i="0" lang="en-US" sz="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8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NO NECESITAS "ATRAPARLOS A TODOS": REDUCCIÓN DE DIMENSIONALIDAD PARA UNA RU</a:t>
            </a:r>
            <a:r>
              <a:rPr b="1" lang="en-US" sz="285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b="1" i="0" lang="en-US" sz="28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US" sz="285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OPTIMIZADA EN POKEMON GB</a:t>
            </a:r>
            <a:r>
              <a:rPr b="1" i="0" lang="en-US" sz="28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"/>
          </a:p>
        </p:txBody>
      </p:sp>
      <p:sp>
        <p:nvSpPr>
          <p:cNvPr id="88" name="Google Shape;88;p13"/>
          <p:cNvSpPr/>
          <p:nvPr/>
        </p:nvSpPr>
        <p:spPr>
          <a:xfrm>
            <a:off x="1762125" y="4241452"/>
            <a:ext cx="142875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762125" y="4470052"/>
            <a:ext cx="8763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rimson Pro"/>
                <a:ea typeface="Crimson Pro"/>
                <a:cs typeface="Crimson Pro"/>
                <a:sym typeface="Crimson Pro"/>
              </a:rPr>
              <a:t>Análisis Multivariado y Taxonomía Algorítmica de Pokémon Gen 1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762125" y="5171025"/>
            <a:ext cx="94521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Presentado por: </a:t>
            </a:r>
            <a:r>
              <a:rPr lang="en-US" sz="1425">
                <a:solidFill>
                  <a:srgbClr val="334155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Ana Milena Uribe, 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Alejandro Quintero</a:t>
            </a:r>
            <a:r>
              <a:rPr lang="en-US" sz="1425">
                <a:solidFill>
                  <a:srgbClr val="334155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, Francisco Mario Campo, Pablo Stevens Casilimas y Mario Bermúdez</a:t>
            </a:r>
            <a:endParaRPr sz="1425">
              <a:solidFill>
                <a:srgbClr val="334155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5">
              <a:solidFill>
                <a:srgbClr val="334155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91" name="Google Shape;91;p13" title="pikachu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1238" y="5265975"/>
            <a:ext cx="1769525" cy="176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571500"/>
            <a:ext cx="1095375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392906" y="2554634"/>
            <a:ext cx="1150143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CFAF2"/>
                </a:solidFill>
                <a:latin typeface="Montserrat"/>
                <a:ea typeface="Montserrat"/>
                <a:cs typeface="Montserrat"/>
                <a:sym typeface="Montserrat"/>
              </a:rPr>
              <a:t>PREGUNTA DE INVESTIGACIÓN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667375" y="3535709"/>
            <a:ext cx="952500" cy="47625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" y="3869084"/>
            <a:ext cx="10953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Crimson Pro"/>
                <a:ea typeface="Crimson Pro"/>
                <a:cs typeface="Crimson Pro"/>
                <a:sym typeface="Crimson Pro"/>
              </a:rPr>
              <a:t>Hacia una eficiencia operacional basada en el espacio latente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603301"/>
            <a:ext cx="5286375" cy="24705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603301"/>
            <a:ext cx="5286375" cy="247054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914400" y="3346251"/>
            <a:ext cx="503062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D8936"/>
                </a:solidFill>
                <a:latin typeface="Montserrat"/>
                <a:ea typeface="Montserrat"/>
                <a:cs typeface="Montserrat"/>
                <a:sym typeface="Montserrat"/>
              </a:rPr>
              <a:t>INTERROGANTE CENTRAL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14400" y="3698676"/>
            <a:ext cx="4791075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¿De qué manera la reducción de la dimensionalidad de los perfiles de resistencia elemental permite identificar redundancias funcionales para optimizar la eficiencia de un entrenador o speedrunner?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581775" y="3346251"/>
            <a:ext cx="503062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D8936"/>
                </a:solidFill>
                <a:latin typeface="Montserrat"/>
                <a:ea typeface="Montserrat"/>
                <a:cs typeface="Montserrat"/>
                <a:sym typeface="Montserrat"/>
              </a:rPr>
              <a:t>OBJETIVO DE OPTIMIZACIÓN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581775" y="3698676"/>
            <a:ext cx="4791075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Minimizar el conjunto de especímenes necesarios para cubrir el máximo espectro de debilidades elementales, eliminando el sesgo de "completitud" por un paradigma de "suficiencia estratégica".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2898576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898576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66750" y="571500"/>
            <a:ext cx="1150143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FORMULACIÓN DEL PROBLEMA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666750" y="1085850"/>
            <a:ext cx="10953750" cy="1905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5" title="dit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2194988" y="4878825"/>
            <a:ext cx="2229900" cy="222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title="muk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05813" y="5304250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666750" y="361950"/>
            <a:ext cx="1150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EXPLICACIÓN DEL RETO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666750" y="876300"/>
            <a:ext cx="10953750" cy="1905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1185250" y="1762625"/>
            <a:ext cx="3270300" cy="408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334466"/>
                </a:solidFill>
                <a:latin typeface="Calibri"/>
                <a:ea typeface="Calibri"/>
                <a:cs typeface="Calibri"/>
                <a:sym typeface="Calibri"/>
              </a:rPr>
              <a:t>Dataset de Kaggle con estadísticas de 800 Pokémon (rounakbanik/pokemon). Se filtran los 151 de la Generación 1 para el análisis.</a:t>
            </a:r>
            <a:endParaRPr sz="1300">
              <a:solidFill>
                <a:srgbClr val="3344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1429100" y="2145000"/>
            <a:ext cx="1732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¿Qué datos?</a:t>
            </a:r>
            <a:endParaRPr b="1">
              <a:solidFill>
                <a:srgbClr val="0A16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1201300" y="1730100"/>
            <a:ext cx="3270300" cy="227700"/>
          </a:xfrm>
          <a:prstGeom prst="rect">
            <a:avLst/>
          </a:prstGeom>
          <a:solidFill>
            <a:srgbClr val="00508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4681225" y="1778888"/>
            <a:ext cx="3270300" cy="408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44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334466"/>
                </a:solidFill>
                <a:latin typeface="Calibri"/>
                <a:ea typeface="Calibri"/>
                <a:cs typeface="Calibri"/>
                <a:sym typeface="Calibri"/>
              </a:rPr>
              <a:t>18 variables de resistencia elemental (against_bug, against_fire, etc.) que describen cómo cada Pokémon enfrenta cada tipo de ataque.</a:t>
            </a:r>
            <a:endParaRPr sz="1300">
              <a:solidFill>
                <a:srgbClr val="3344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44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4925075" y="2161263"/>
            <a:ext cx="1732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¿Qué se analiza?</a:t>
            </a:r>
            <a:endParaRPr b="1">
              <a:solidFill>
                <a:srgbClr val="0A16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A16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4697275" y="1746363"/>
            <a:ext cx="3270300" cy="227700"/>
          </a:xfrm>
          <a:prstGeom prst="rect">
            <a:avLst/>
          </a:prstGeom>
          <a:solidFill>
            <a:srgbClr val="00508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8250400" y="1778875"/>
            <a:ext cx="3270300" cy="408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44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334466"/>
                </a:solidFill>
                <a:latin typeface="Calibri"/>
                <a:ea typeface="Calibri"/>
                <a:cs typeface="Calibri"/>
                <a:sym typeface="Calibri"/>
              </a:rPr>
              <a:t>Descubrir si los Pokémon se agrupan naturalmente por sus perfiles de resistencia usando técnicas de clustering y reducción de dimensiones.</a:t>
            </a:r>
            <a:endParaRPr sz="1300">
              <a:solidFill>
                <a:srgbClr val="3344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44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44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8494250" y="2161250"/>
            <a:ext cx="1732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¿Objetivo?</a:t>
            </a:r>
            <a:endParaRPr b="1">
              <a:solidFill>
                <a:srgbClr val="0A16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A16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8266450" y="1746350"/>
            <a:ext cx="3270300" cy="227700"/>
          </a:xfrm>
          <a:prstGeom prst="rect">
            <a:avLst/>
          </a:prstGeom>
          <a:solidFill>
            <a:srgbClr val="00508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" y="-1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181100"/>
            <a:ext cx="5286375" cy="53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0" y="0"/>
            <a:ext cx="9540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666750" y="1628300"/>
            <a:ext cx="52863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En la taxonomía Pokémon, cada entidad está definida por un vector , </a:t>
            </a:r>
            <a:endParaRPr b="0" i="0" sz="1425" u="none" cap="none" strike="noStrike">
              <a:solidFill>
                <a:srgbClr val="334155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5">
              <a:solidFill>
                <a:srgbClr val="334155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donde cada componente representa la vulnerabilidad ante un tipo elemental específico.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190625"/>
            <a:ext cx="5267325" cy="52958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955925" y="3100916"/>
            <a:ext cx="4953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151 especímenes en la Generación 1.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55925" y="3468521"/>
            <a:ext cx="4953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Resistencias que varían exponencialmente (0.25x a 4.0x).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55925" y="3836127"/>
            <a:ext cx="49530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Alta complejidad cognitiva para la toma de decisiones humana en tiempo real.</a:t>
            </a:r>
            <a:endParaRPr/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550" y="313425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2550" y="350185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2550" y="3869464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666750" y="361950"/>
            <a:ext cx="1150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CONTEXTO: EL ESPACIO DE 18 DIMENSIONES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666750" y="876300"/>
            <a:ext cx="10953900" cy="192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17075" y="1925125"/>
            <a:ext cx="5715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title="mr-mime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2063725" y="4705200"/>
            <a:ext cx="1878200" cy="187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title="Pok 3Fmon_Gotta_catch_em_all_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275" y="2333325"/>
            <a:ext cx="6043950" cy="31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6334125" y="233332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DENSIDAD VS. EFICIENCIA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334125" y="2552402"/>
            <a:ext cx="52863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El lema tradicional sugiere que la acumulación de datos (especímenes) es proporcional al éxito. Sin embargo, en analítica avanzada: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667500" y="3211413"/>
            <a:ext cx="495300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Redundancia: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 Muchos Pokémon comparten el mismo vecindario en el espacio de Hilbert de resistencias.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667500" y="3832324"/>
            <a:ext cx="495300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Costo de Oportunidad: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 Capturar innecesariamente penaliza el tiempo (Speedrun) y el entrenamiento de recursos (Trainer).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66750" y="571500"/>
            <a:ext cx="1150143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LA FALACIA DE "ATRAPARLOS A TODOS"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666750" y="1085850"/>
            <a:ext cx="10953750" cy="1905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8" title="oni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3100" y="4911950"/>
            <a:ext cx="1608425" cy="160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666750" y="3829050"/>
            <a:ext cx="109537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617458" y="3928169"/>
            <a:ext cx="2070258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PRE-PROCESAMIENTO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66750" y="4366319"/>
            <a:ext cx="19716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Z-score Normalization &amp; Feature Selection.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2862976" y="3928169"/>
            <a:ext cx="207025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CLUSTERING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2912268" y="4147244"/>
            <a:ext cx="19716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Segmentación con K-Means++ (k=4).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108495" y="3928169"/>
            <a:ext cx="207025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REDUCCIÓN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157787" y="4147244"/>
            <a:ext cx="19716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PCA (Lineal) y t-SNE (No Lineal).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7354014" y="3928169"/>
            <a:ext cx="207025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VALIDACIÓN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7403306" y="4147244"/>
            <a:ext cx="19716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Prueba Kruskal-Wallis &amp; Silueta.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9599533" y="3928169"/>
            <a:ext cx="207025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ESTRATEGIA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9648825" y="4147244"/>
            <a:ext cx="19716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Implementación en Batallas y Speedruns.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66750" y="571500"/>
            <a:ext cx="1150143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ARQUITECTURA DEL PIPELINE ANALÍTICO</a:t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666750" y="1085850"/>
            <a:ext cx="10953750" cy="1905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1557337" y="3451919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3802856" y="3451919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6048375" y="3451919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8293893" y="3451919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10539412" y="3451919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19" title="squirt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1100" y="2192988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title="wartortl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2788" y="21930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title="blastois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24500" y="2054575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title="poliwa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7650" y="21930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title="poliwhirl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063150" y="2193000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958256"/>
            <a:ext cx="5286375" cy="176063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666750" y="2958256"/>
            <a:ext cx="52863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Para garantizar que el algoritmo no se sesgara por magnitudes absolutas, aplicamos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StandardScaler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: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66750" y="4097982"/>
            <a:ext cx="52863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Esto permite comparar debilidades de tipo 'Fuego' con 'Psíquico' en una escala adimensional simétrica.</a:t>
            </a:r>
            <a:endParaRPr/>
          </a:p>
        </p:txBody>
      </p:sp>
      <p:pic>
        <p:nvPicPr>
          <p:cNvPr descr="image.png" id="207" name="Google Shape;20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655367"/>
            <a:ext cx="5286375" cy="25211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666750" y="571500"/>
            <a:ext cx="1150143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INGENIERÍA DE CARACTERÍSTICAS: Z-SCORE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666750" y="1085850"/>
            <a:ext cx="10953750" cy="1905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20" title="raichu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86075" y="5318225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390650"/>
            <a:ext cx="10953750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666750" y="4488209"/>
            <a:ext cx="1095375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La disparidad en las varianzas justifica la necesidad de una reducción para identificar los ejes reales de diferenciación.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66750" y="571500"/>
            <a:ext cx="1150143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VARIABILIDAD INICIAL DEL DATASET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666750" y="1085850"/>
            <a:ext cx="10953750" cy="1905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21" title="psyduc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4325" y="5039125"/>
            <a:ext cx="1443350" cy="14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571500"/>
            <a:ext cx="1095375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392906" y="2554634"/>
            <a:ext cx="1150143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CFAF2"/>
                </a:solidFill>
                <a:latin typeface="Montserrat"/>
                <a:ea typeface="Montserrat"/>
                <a:cs typeface="Montserrat"/>
                <a:sym typeface="Montserrat"/>
              </a:rPr>
              <a:t>DESARROLLO METODOLÓGICO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5667375" y="3535709"/>
            <a:ext cx="952500" cy="47625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666750" y="3869084"/>
            <a:ext cx="10953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Crimson Pro"/>
                <a:ea typeface="Crimson Pro"/>
                <a:cs typeface="Crimson Pro"/>
                <a:sym typeface="Crimson Pro"/>
              </a:rPr>
              <a:t>Segmentación y Proyección del Espacio Latente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3380482"/>
            <a:ext cx="5229225" cy="271194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685800" y="871835"/>
            <a:ext cx="1148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C. Seleccion de Algoritmo DBSCAN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685800" y="1462385"/>
            <a:ext cx="10934700" cy="285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685800" y="2227957"/>
            <a:ext cx="52293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Al analizar el </a:t>
            </a:r>
            <a:r>
              <a:rPr b="1" lang="en-US" sz="1650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Diagrama</a:t>
            </a:r>
            <a:r>
              <a:rPr b="0" i="0" lang="en-US" sz="1650" u="none" cap="none" strike="noStrike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 resultante del </a:t>
            </a:r>
            <a:r>
              <a:rPr lang="en-US" sz="1650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DBSCAN</a:t>
            </a:r>
            <a:r>
              <a:rPr b="0" i="0" lang="en-US" sz="1650" u="none" cap="none" strike="noStrike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, el número óptimo de grupos se sitúa en </a:t>
            </a:r>
            <a:r>
              <a:rPr b="1" lang="en-US" sz="1650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5</a:t>
            </a:r>
            <a:r>
              <a:rPr b="1" i="0" lang="en-US" sz="1650" u="none" cap="none" strike="noStrike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 clústeres</a:t>
            </a:r>
            <a:r>
              <a:rPr b="0" i="0" lang="en-US" sz="1650" u="none" cap="none" strike="noStrike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981075" y="3780278"/>
            <a:ext cx="4870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D8936"/>
                </a:solidFill>
                <a:latin typeface="Montserrat"/>
                <a:ea typeface="Montserrat"/>
                <a:cs typeface="Montserrat"/>
                <a:sym typeface="Montserrat"/>
              </a:rPr>
              <a:t>JUSTIFICACIÓN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981075" y="4330303"/>
            <a:ext cx="46386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Epsilon: 3.8 – Determinado mediante el Método de la Rodilla (K-Distance Graph), identificando el punto donde la densidad de vecinos se dispersa.</a:t>
            </a:r>
            <a:endParaRPr sz="1250">
              <a:solidFill>
                <a:srgbClr val="1E293B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1E293B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MinPts: 5 – Definido para capturar nichos ecológicos pequeños (como los tipos Dragón o Fantasma de la Gen 1) sin perder significancia estadística, seleccionado por el metodo de la rodilla</a:t>
            </a:r>
            <a:endParaRPr sz="1250">
              <a:solidFill>
                <a:srgbClr val="1E293B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pic>
        <p:nvPicPr>
          <p:cNvPr id="244" name="Google Shape;244;p23" title="dbscan_epsilon_check_GEN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6899" y="2862750"/>
            <a:ext cx="5103600" cy="318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3380482"/>
            <a:ext cx="5229225" cy="271194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685800" y="871835"/>
            <a:ext cx="1148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A. SELECCIÓN DE GRUPOS JERÁRQUICOS</a:t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685800" y="1462385"/>
            <a:ext cx="10934700" cy="285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685800" y="2227957"/>
            <a:ext cx="522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Al analizar el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Dendrograma</a:t>
            </a:r>
            <a:r>
              <a:rPr b="0" i="0" lang="en-US" sz="1650" u="none" cap="none" strike="noStrike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 resultante del agrupamiento jerárquico (utilizando el método de Ward), el número óptimo de grupos se sitúa en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4 clústeres</a:t>
            </a:r>
            <a:r>
              <a:rPr b="0" i="0" lang="en-US" sz="1650" u="none" cap="none" strike="noStrike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.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981075" y="3901678"/>
            <a:ext cx="4870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D8936"/>
                </a:solidFill>
                <a:latin typeface="Montserrat"/>
                <a:ea typeface="Montserrat"/>
                <a:cs typeface="Montserrat"/>
                <a:sym typeface="Montserrat"/>
              </a:rPr>
              <a:t>JUSTIFICACIÓN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981075" y="4330303"/>
            <a:ext cx="46386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En el nivel de distancia euclidiana donde el árbol presenta el mayor salto vertical (sin cruces), se observan 4 ramas principales que corresponden a las familias elementales dominantes de la Gen 1.</a:t>
            </a:r>
            <a:endParaRPr/>
          </a:p>
        </p:txBody>
      </p:sp>
      <p:pic>
        <p:nvPicPr>
          <p:cNvPr id="257" name="Google Shape;257;p24" title="dendrograma_ward_GEN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4950" y="3065150"/>
            <a:ext cx="5730174" cy="334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1824335"/>
            <a:ext cx="10934699" cy="446216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685800" y="871835"/>
            <a:ext cx="1148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B. DISTRIBUCIÓN DE GRUPOS K-MEANS</a:t>
            </a:r>
            <a:endParaRPr/>
          </a:p>
        </p:txBody>
      </p:sp>
      <p:sp>
        <p:nvSpPr>
          <p:cNvPr id="266" name="Google Shape;266;p25"/>
          <p:cNvSpPr/>
          <p:nvPr/>
        </p:nvSpPr>
        <p:spPr>
          <a:xfrm>
            <a:off x="685800" y="1462385"/>
            <a:ext cx="10934700" cy="285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685800" y="2198042"/>
            <a:ext cx="10934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Al ejecutar K-Means con k=4 sobre los 151 registros de la Generación 1, la distribución poblacional es la siguiente: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685800" y="5598467"/>
            <a:ext cx="10934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Total: 151 registros analizados.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995761"/>
            <a:ext cx="5286375" cy="1685627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6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666750" y="2995761"/>
            <a:ext cx="52863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Implementamos una partición del espacio mediante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K-Means++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 con k=4.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1000125" y="3654772"/>
            <a:ext cx="495300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Convergencia: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 Optimizada para minimizar la inercia intracluster.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1000125" y="4022377"/>
            <a:ext cx="495300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Interpretación: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 Los grupos resultantes no siguen el número de Pokédex, sino perfiles de supervivencia.</a:t>
            </a:r>
            <a:endParaRPr/>
          </a:p>
        </p:txBody>
      </p:sp>
      <p:pic>
        <p:nvPicPr>
          <p:cNvPr descr="image.png" id="279" name="Google Shape;27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688109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405571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6"/>
          <p:cNvSpPr txBox="1"/>
          <p:nvPr/>
        </p:nvSpPr>
        <p:spPr>
          <a:xfrm>
            <a:off x="666750" y="571500"/>
            <a:ext cx="1150143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TAXONOMÍA ALGORÍTMICA: K-MEANS++</a:t>
            </a: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666750" y="1085850"/>
            <a:ext cx="10953750" cy="1905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26" title="rapidash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24500" y="5277750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7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666750" y="2337494"/>
            <a:ext cx="528637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0.263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666750" y="3404294"/>
            <a:ext cx="52863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rimson Pro"/>
                <a:ea typeface="Crimson Pro"/>
                <a:cs typeface="Crimson Pro"/>
                <a:sym typeface="Crimson Pro"/>
              </a:rPr>
              <a:t>Coeficiente de Silueta</a:t>
            </a:r>
            <a:endParaRPr/>
          </a:p>
        </p:txBody>
      </p:sp>
      <p:sp>
        <p:nvSpPr>
          <p:cNvPr id="292" name="Google Shape;292;p27"/>
          <p:cNvSpPr txBox="1"/>
          <p:nvPr/>
        </p:nvSpPr>
        <p:spPr>
          <a:xfrm>
            <a:off x="666750" y="3838575"/>
            <a:ext cx="528637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1798.0</a:t>
            </a:r>
            <a:endParaRPr/>
          </a:p>
        </p:txBody>
      </p:sp>
      <p:sp>
        <p:nvSpPr>
          <p:cNvPr id="293" name="Google Shape;293;p27"/>
          <p:cNvSpPr txBox="1"/>
          <p:nvPr/>
        </p:nvSpPr>
        <p:spPr>
          <a:xfrm>
            <a:off x="666750" y="4905375"/>
            <a:ext cx="52863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rimson Pro"/>
                <a:ea typeface="Crimson Pro"/>
                <a:cs typeface="Crimson Pro"/>
                <a:sym typeface="Crimson Pro"/>
              </a:rPr>
              <a:t>Inercia Final</a:t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666750" y="571500"/>
            <a:ext cx="1150143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MÉTRICAS DE COHESIÓN Y SEPARACIÓN</a:t>
            </a:r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666750" y="1085850"/>
            <a:ext cx="10953750" cy="1905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27" title="alakaz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738438" y="54545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7" title="optimizacion_metodos_GEN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5925" y="2062675"/>
            <a:ext cx="6296200" cy="377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3223319"/>
            <a:ext cx="5229225" cy="2711946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8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8"/>
          <p:cNvSpPr txBox="1"/>
          <p:nvPr/>
        </p:nvSpPr>
        <p:spPr>
          <a:xfrm>
            <a:off x="685800" y="871835"/>
            <a:ext cx="1148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MÉTODO DE REDUCCIÓN MÁS CLARO</a:t>
            </a:r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685800" y="1462385"/>
            <a:ext cx="10934700" cy="285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6391275" y="2385119"/>
            <a:ext cx="52293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El método que permite una comprensión más clara es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t-SNE</a:t>
            </a:r>
            <a:r>
              <a:rPr b="0" i="0" lang="en-US" sz="1650" u="none" cap="none" strike="noStrike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 (t-Distributed Stochastic Neighbor Embedding).</a:t>
            </a:r>
            <a:endParaRPr/>
          </a:p>
        </p:txBody>
      </p:sp>
      <p:sp>
        <p:nvSpPr>
          <p:cNvPr id="308" name="Google Shape;308;p28"/>
          <p:cNvSpPr txBox="1"/>
          <p:nvPr/>
        </p:nvSpPr>
        <p:spPr>
          <a:xfrm>
            <a:off x="6686550" y="3744515"/>
            <a:ext cx="4870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D8936"/>
                </a:solidFill>
                <a:latin typeface="Montserrat"/>
                <a:ea typeface="Montserrat"/>
                <a:cs typeface="Montserrat"/>
                <a:sym typeface="Montserrat"/>
              </a:rPr>
              <a:t>¿POR QUÉ T-SNE?</a:t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6686550" y="4173140"/>
            <a:ext cx="46386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Mientras que PCA es una proyección lineal que puede solapar grupos, t-SNE revela "islas" no lineales. Esto permite ver visualmente grupos de Pokémon que son funcionalmente idénticos en defensa.</a:t>
            </a:r>
            <a:endParaRPr/>
          </a:p>
        </p:txBody>
      </p:sp>
      <p:pic>
        <p:nvPicPr>
          <p:cNvPr id="310" name="Google Shape;31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650" y="2041669"/>
            <a:ext cx="5469476" cy="4339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469630"/>
            <a:ext cx="5229225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9"/>
          <p:cNvSpPr txBox="1"/>
          <p:nvPr/>
        </p:nvSpPr>
        <p:spPr>
          <a:xfrm>
            <a:off x="685800" y="871835"/>
            <a:ext cx="1148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E. EVALUACIÓN DEL SEGUNDO GRÁFICO</a:t>
            </a:r>
            <a:endParaRPr/>
          </a:p>
        </p:txBody>
      </p:sp>
      <p:sp>
        <p:nvSpPr>
          <p:cNvPr id="318" name="Google Shape;318;p29"/>
          <p:cNvSpPr/>
          <p:nvPr/>
        </p:nvSpPr>
        <p:spPr>
          <a:xfrm>
            <a:off x="685800" y="1462385"/>
            <a:ext cx="10934700" cy="285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9"/>
          <p:cNvSpPr txBox="1"/>
          <p:nvPr/>
        </p:nvSpPr>
        <p:spPr>
          <a:xfrm>
            <a:off x="685800" y="2221855"/>
            <a:ext cx="522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¿Muestra adecuadamente la conformación?</a:t>
            </a:r>
            <a:endParaRPr/>
          </a:p>
        </p:txBody>
      </p:sp>
      <p:sp>
        <p:nvSpPr>
          <p:cNvPr id="320" name="Google Shape;320;p29"/>
          <p:cNvSpPr txBox="1"/>
          <p:nvPr/>
        </p:nvSpPr>
        <p:spPr>
          <a:xfrm>
            <a:off x="685800" y="2802880"/>
            <a:ext cx="5229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Crimson Pro"/>
                <a:ea typeface="Crimson Pro"/>
                <a:cs typeface="Crimson Pro"/>
                <a:sym typeface="Crimson Pro"/>
              </a:rPr>
              <a:t>SÍ, ABSOLUTAMENTE.</a:t>
            </a:r>
            <a:endParaRPr/>
          </a:p>
        </p:txBody>
      </p:sp>
      <p:sp>
        <p:nvSpPr>
          <p:cNvPr id="321" name="Google Shape;321;p29"/>
          <p:cNvSpPr txBox="1"/>
          <p:nvPr/>
        </p:nvSpPr>
        <p:spPr>
          <a:xfrm>
            <a:off x="981075" y="4022080"/>
            <a:ext cx="4638600" cy="17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Crimson Pro"/>
                <a:ea typeface="Crimson Pro"/>
                <a:cs typeface="Crimson Pro"/>
                <a:sym typeface="Crimson Pro"/>
              </a:rPr>
              <a:t>El segundo gráfico (t-SNE / Mapa Visual) muestra agrupaciones densas y separadas que coinciden con los clústeres de K-Means. A diferencia del primer gráfico (PCA), aquí la distancia visual representa fielmente el "parentesco defensivo".</a:t>
            </a:r>
            <a:endParaRPr/>
          </a:p>
        </p:txBody>
      </p:sp>
      <p:pic>
        <p:nvPicPr>
          <p:cNvPr id="322" name="Google Shape;322;p29" title="tsne_clusters_GEN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0450" y="2296525"/>
            <a:ext cx="5594575" cy="391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7" name="Google Shape;32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831901"/>
            <a:ext cx="5286375" cy="2013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831901"/>
            <a:ext cx="5286375" cy="201334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0"/>
          <p:cNvSpPr txBox="1"/>
          <p:nvPr/>
        </p:nvSpPr>
        <p:spPr>
          <a:xfrm>
            <a:off x="914400" y="3117651"/>
            <a:ext cx="503062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D8936"/>
                </a:solidFill>
                <a:latin typeface="Montserrat"/>
                <a:ea typeface="Montserrat"/>
                <a:cs typeface="Montserrat"/>
                <a:sym typeface="Montserrat"/>
              </a:rPr>
              <a:t>APROXIMACIÓN NO LINEAL</a:t>
            </a:r>
            <a:endParaRPr/>
          </a:p>
        </p:txBody>
      </p:sp>
      <p:sp>
        <p:nvSpPr>
          <p:cNvPr id="332" name="Google Shape;332;p30"/>
          <p:cNvSpPr txBox="1"/>
          <p:nvPr/>
        </p:nvSpPr>
        <p:spPr>
          <a:xfrm>
            <a:off x="914400" y="3470076"/>
            <a:ext cx="4791075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A diferencia de PCA, t-SNE utiliza una distribución T de Student para modelar distancias en el espacio de baja dimensión, permitiendo identificar "islas" de Pokémon con perfiles defensivos idénticos.</a:t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6581775" y="3117651"/>
            <a:ext cx="503062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D8936"/>
                </a:solidFill>
                <a:latin typeface="Montserrat"/>
                <a:ea typeface="Montserrat"/>
                <a:cs typeface="Montserrat"/>
                <a:sym typeface="Montserrat"/>
              </a:rPr>
              <a:t>SIGNIFICADO ESTRATÉGICO</a:t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6581775" y="3470076"/>
            <a:ext cx="4791075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Especímenes muy cercanos en t-SNE son funcionalmente redundantes. Para un equipo eficiente, basta con elegir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uno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 de cada vecindario denso.</a:t>
            </a:r>
            <a:endParaRPr/>
          </a:p>
        </p:txBody>
      </p:sp>
      <p:sp>
        <p:nvSpPr>
          <p:cNvPr id="335" name="Google Shape;335;p30"/>
          <p:cNvSpPr txBox="1"/>
          <p:nvPr/>
        </p:nvSpPr>
        <p:spPr>
          <a:xfrm>
            <a:off x="666750" y="571500"/>
            <a:ext cx="1150143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T-SNE: PRESERVACIÓN TOPOLÓGICA</a:t>
            </a:r>
            <a:endParaRPr/>
          </a:p>
        </p:txBody>
      </p:sp>
      <p:sp>
        <p:nvSpPr>
          <p:cNvPr id="336" name="Google Shape;336;p30"/>
          <p:cNvSpPr/>
          <p:nvPr/>
        </p:nvSpPr>
        <p:spPr>
          <a:xfrm>
            <a:off x="666750" y="1085850"/>
            <a:ext cx="10953750" cy="1905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Google Shape;337;p30" title="bulbasau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2507775" y="530425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0" title="venusau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05813" y="5207050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3" name="Google Shape;34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1"/>
          <p:cNvSpPr txBox="1"/>
          <p:nvPr/>
        </p:nvSpPr>
        <p:spPr>
          <a:xfrm>
            <a:off x="571500" y="2046089"/>
            <a:ext cx="52006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PCA: ESTRUCTURA GLOBAL</a:t>
            </a:r>
            <a:endParaRPr/>
          </a:p>
        </p:txBody>
      </p:sp>
      <p:sp>
        <p:nvSpPr>
          <p:cNvPr id="345" name="Google Shape;345;p31"/>
          <p:cNvSpPr txBox="1"/>
          <p:nvPr/>
        </p:nvSpPr>
        <p:spPr>
          <a:xfrm>
            <a:off x="571500" y="3265289"/>
            <a:ext cx="495300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El Análisis de Componentes Principales reveló que los dos primeros ejes explican el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35.76%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 de la varianza total.</a:t>
            </a:r>
            <a:endParaRPr/>
          </a:p>
        </p:txBody>
      </p:sp>
      <p:sp>
        <p:nvSpPr>
          <p:cNvPr id="346" name="Google Shape;346;p31"/>
          <p:cNvSpPr txBox="1"/>
          <p:nvPr/>
        </p:nvSpPr>
        <p:spPr>
          <a:xfrm>
            <a:off x="904875" y="4038600"/>
            <a:ext cx="461962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PC1: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 Dominado por vectores 'Flying', 'Grass' y 'Ground'.</a:t>
            </a:r>
            <a:endParaRPr/>
          </a:p>
        </p:txBody>
      </p:sp>
      <p:sp>
        <p:nvSpPr>
          <p:cNvPr id="347" name="Google Shape;347;p31"/>
          <p:cNvSpPr txBox="1"/>
          <p:nvPr/>
        </p:nvSpPr>
        <p:spPr>
          <a:xfrm>
            <a:off x="904875" y="4406205"/>
            <a:ext cx="461962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PC2: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 Dominado por vectores 'Psychic', 'Bug' y 'Dark'.</a:t>
            </a:r>
            <a:endParaRPr/>
          </a:p>
        </p:txBody>
      </p:sp>
      <p:pic>
        <p:nvPicPr>
          <p:cNvPr id="348" name="Google Shape;348;p31" title="butterfre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180775" y="51275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6074" y="1439275"/>
            <a:ext cx="5384301" cy="456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4" name="Google Shape;35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/>
          <p:nvPr/>
        </p:nvSpPr>
        <p:spPr>
          <a:xfrm>
            <a:off x="0" y="0"/>
            <a:ext cx="9540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666750" y="571500"/>
            <a:ext cx="1150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CARACTERIZACIÓN DE NICHOS ECOLÓGICOS</a:t>
            </a:r>
            <a:endParaRPr/>
          </a:p>
        </p:txBody>
      </p:sp>
      <p:sp>
        <p:nvSpPr>
          <p:cNvPr id="357" name="Google Shape;357;p32"/>
          <p:cNvSpPr/>
          <p:nvPr/>
        </p:nvSpPr>
        <p:spPr>
          <a:xfrm>
            <a:off x="666750" y="1085850"/>
            <a:ext cx="10953900" cy="192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32" title="pca_clusters_GEN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4175" y="1424425"/>
            <a:ext cx="7383650" cy="516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3" name="Google Shape;3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784151"/>
            <a:ext cx="2587674" cy="2013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924" y="1784151"/>
            <a:ext cx="2587674" cy="2013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3099" y="1784151"/>
            <a:ext cx="2587674" cy="2013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01273" y="1784151"/>
            <a:ext cx="2619375" cy="2013346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3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3"/>
          <p:cNvSpPr txBox="1"/>
          <p:nvPr/>
        </p:nvSpPr>
        <p:spPr>
          <a:xfrm>
            <a:off x="914400" y="2069901"/>
            <a:ext cx="21969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D8936"/>
                </a:solidFill>
                <a:latin typeface="Montserrat"/>
                <a:ea typeface="Montserrat"/>
                <a:cs typeface="Montserrat"/>
                <a:sym typeface="Montserrat"/>
              </a:rPr>
              <a:t>AZUL</a:t>
            </a:r>
            <a:endParaRPr/>
          </a:p>
        </p:txBody>
      </p:sp>
      <p:sp>
        <p:nvSpPr>
          <p:cNvPr id="370" name="Google Shape;370;p33"/>
          <p:cNvSpPr txBox="1"/>
          <p:nvPr/>
        </p:nvSpPr>
        <p:spPr>
          <a:xfrm>
            <a:off x="914400" y="2422326"/>
            <a:ext cx="2092374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Especialistas Acuáticos/Hielo. Alta resiliencia a ataques hídricos.</a:t>
            </a:r>
            <a:endParaRPr/>
          </a:p>
        </p:txBody>
      </p:sp>
      <p:sp>
        <p:nvSpPr>
          <p:cNvPr id="371" name="Google Shape;371;p33"/>
          <p:cNvSpPr txBox="1"/>
          <p:nvPr/>
        </p:nvSpPr>
        <p:spPr>
          <a:xfrm>
            <a:off x="3692574" y="2069901"/>
            <a:ext cx="21969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D8936"/>
                </a:solidFill>
                <a:latin typeface="Montserrat"/>
                <a:ea typeface="Montserrat"/>
                <a:cs typeface="Montserrat"/>
                <a:sym typeface="Montserrat"/>
              </a:rPr>
              <a:t>VERDE</a:t>
            </a:r>
            <a:endParaRPr/>
          </a:p>
        </p:txBody>
      </p:sp>
      <p:sp>
        <p:nvSpPr>
          <p:cNvPr id="372" name="Google Shape;372;p33"/>
          <p:cNvSpPr txBox="1"/>
          <p:nvPr/>
        </p:nvSpPr>
        <p:spPr>
          <a:xfrm>
            <a:off x="3692574" y="2422326"/>
            <a:ext cx="2092374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Botánicos y Bípodes. Vulnerables a fuego y toxinas.</a:t>
            </a:r>
            <a:endParaRPr/>
          </a:p>
        </p:txBody>
      </p:sp>
      <p:sp>
        <p:nvSpPr>
          <p:cNvPr id="373" name="Google Shape;373;p33"/>
          <p:cNvSpPr txBox="1"/>
          <p:nvPr/>
        </p:nvSpPr>
        <p:spPr>
          <a:xfrm>
            <a:off x="6470749" y="2069901"/>
            <a:ext cx="21969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D8936"/>
                </a:solidFill>
                <a:latin typeface="Montserrat"/>
                <a:ea typeface="Montserrat"/>
                <a:cs typeface="Montserrat"/>
                <a:sym typeface="Montserrat"/>
              </a:rPr>
              <a:t>AMARILLO</a:t>
            </a:r>
            <a:endParaRPr/>
          </a:p>
        </p:txBody>
      </p:sp>
      <p:sp>
        <p:nvSpPr>
          <p:cNvPr id="374" name="Google Shape;374;p33"/>
          <p:cNvSpPr txBox="1"/>
          <p:nvPr/>
        </p:nvSpPr>
        <p:spPr>
          <a:xfrm>
            <a:off x="6470749" y="2422326"/>
            <a:ext cx="2092374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Eléctricos y Tierra. Alta conductividad y resistencia sísmica.</a:t>
            </a:r>
            <a:endParaRPr/>
          </a:p>
        </p:txBody>
      </p:sp>
      <p:sp>
        <p:nvSpPr>
          <p:cNvPr id="375" name="Google Shape;375;p33"/>
          <p:cNvSpPr txBox="1"/>
          <p:nvPr/>
        </p:nvSpPr>
        <p:spPr>
          <a:xfrm>
            <a:off x="9248923" y="2069901"/>
            <a:ext cx="223027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D8936"/>
                </a:solidFill>
                <a:latin typeface="Montserrat"/>
                <a:ea typeface="Montserrat"/>
                <a:cs typeface="Montserrat"/>
                <a:sym typeface="Montserrat"/>
              </a:rPr>
              <a:t>MORADO</a:t>
            </a:r>
            <a:endParaRPr/>
          </a:p>
        </p:txBody>
      </p:sp>
      <p:sp>
        <p:nvSpPr>
          <p:cNvPr id="376" name="Google Shape;376;p33"/>
          <p:cNvSpPr txBox="1"/>
          <p:nvPr/>
        </p:nvSpPr>
        <p:spPr>
          <a:xfrm>
            <a:off x="9248923" y="2422326"/>
            <a:ext cx="2124075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Místicos (Veneno/Psíquico/Fantasma). Perfiles de resistencia compleja.</a:t>
            </a:r>
            <a:endParaRPr/>
          </a:p>
        </p:txBody>
      </p:sp>
      <p:sp>
        <p:nvSpPr>
          <p:cNvPr id="377" name="Google Shape;377;p33"/>
          <p:cNvSpPr txBox="1"/>
          <p:nvPr/>
        </p:nvSpPr>
        <p:spPr>
          <a:xfrm>
            <a:off x="666750" y="571500"/>
            <a:ext cx="1150143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CARACTERIZACIÓN DE NICHOS ECOLÓGICOS</a:t>
            </a:r>
            <a:endParaRPr/>
          </a:p>
        </p:txBody>
      </p:sp>
      <p:sp>
        <p:nvSpPr>
          <p:cNvPr id="378" name="Google Shape;378;p33"/>
          <p:cNvSpPr/>
          <p:nvPr/>
        </p:nvSpPr>
        <p:spPr>
          <a:xfrm>
            <a:off x="666750" y="1085850"/>
            <a:ext cx="10953750" cy="1905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33" title="blastois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89088" y="4358625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3" title="electabuzz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97750" y="4358625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3" title="gengar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739463" y="4358625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3" title="metapod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000500" y="4358625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7" name="Google Shape;38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390650"/>
            <a:ext cx="10953750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4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4"/>
          <p:cNvSpPr txBox="1"/>
          <p:nvPr/>
        </p:nvSpPr>
        <p:spPr>
          <a:xfrm>
            <a:off x="666750" y="4702671"/>
            <a:ext cx="10953750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64748B"/>
                </a:solidFill>
                <a:latin typeface="Crimson Pro"/>
                <a:ea typeface="Crimson Pro"/>
                <a:cs typeface="Crimson Pro"/>
                <a:sym typeface="Crimson Pro"/>
              </a:rPr>
              <a:t>Nota: PC1 y PC2 capturan los ejes críticos para la supervivencia en la ruta de Kanto.</a:t>
            </a:r>
            <a:endParaRPr/>
          </a:p>
        </p:txBody>
      </p:sp>
      <p:sp>
        <p:nvSpPr>
          <p:cNvPr id="391" name="Google Shape;391;p34"/>
          <p:cNvSpPr txBox="1"/>
          <p:nvPr/>
        </p:nvSpPr>
        <p:spPr>
          <a:xfrm>
            <a:off x="666750" y="571500"/>
            <a:ext cx="1150143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TENDENCIAS DE COMPONENTES PRINCIPALES</a:t>
            </a:r>
            <a:endParaRPr/>
          </a:p>
        </p:txBody>
      </p:sp>
      <p:sp>
        <p:nvSpPr>
          <p:cNvPr id="392" name="Google Shape;392;p34"/>
          <p:cNvSpPr/>
          <p:nvPr/>
        </p:nvSpPr>
        <p:spPr>
          <a:xfrm>
            <a:off x="666750" y="1085850"/>
            <a:ext cx="10953750" cy="1905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" name="Google Shape;393;p34" title="mewtw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4500" y="5268900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8" name="Google Shape;39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5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5"/>
          <p:cNvSpPr txBox="1"/>
          <p:nvPr/>
        </p:nvSpPr>
        <p:spPr>
          <a:xfrm>
            <a:off x="666750" y="2326183"/>
            <a:ext cx="1095375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Para corroborar la validez de los grupos, aplicamos la prueba de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Kruskal-Wallis H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:</a:t>
            </a:r>
            <a:endParaRPr/>
          </a:p>
        </p:txBody>
      </p:sp>
      <p:graphicFrame>
        <p:nvGraphicFramePr>
          <p:cNvPr id="401" name="Google Shape;401;p35"/>
          <p:cNvGraphicFramePr/>
          <p:nvPr/>
        </p:nvGraphicFramePr>
        <p:xfrm>
          <a:off x="666750" y="28842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{2C0C47A9-7102-4A56-ABB5-331E24179241}</a:tableStyleId>
              </a:tblPr>
              <a:tblGrid>
                <a:gridCol w="3374825"/>
                <a:gridCol w="2101900"/>
                <a:gridCol w="1619850"/>
                <a:gridCol w="3857175"/>
              </a:tblGrid>
              <a:tr h="48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Crimson Pro"/>
                          <a:ea typeface="Crimson Pro"/>
                          <a:cs typeface="Crimson Pro"/>
                          <a:sym typeface="Crimson Pro"/>
                        </a:rPr>
                        <a:t>Variable Elemental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Crimson Pro"/>
                          <a:ea typeface="Crimson Pro"/>
                          <a:cs typeface="Crimson Pro"/>
                          <a:sym typeface="Crimson Pro"/>
                        </a:rPr>
                        <a:t>H-Statistic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Crimson Pro"/>
                          <a:ea typeface="Crimson Pro"/>
                          <a:cs typeface="Crimson Pro"/>
                          <a:sym typeface="Crimson Pro"/>
                        </a:rPr>
                        <a:t>p-value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Crimson Pro"/>
                          <a:ea typeface="Crimson Pro"/>
                          <a:cs typeface="Crimson Pro"/>
                          <a:sym typeface="Crimson Pro"/>
                        </a:rPr>
                        <a:t>Significancia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48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Crimson Pro"/>
                          <a:ea typeface="Crimson Pro"/>
                          <a:cs typeface="Crimson Pro"/>
                          <a:sym typeface="Crimson Pro"/>
                        </a:rPr>
                        <a:t>Against Fire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Crimson Pro"/>
                          <a:ea typeface="Crimson Pro"/>
                          <a:cs typeface="Crimson Pro"/>
                          <a:sym typeface="Crimson Pro"/>
                        </a:rPr>
                        <a:t>142.3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Crimson Pro"/>
                          <a:ea typeface="Crimson Pro"/>
                          <a:cs typeface="Crimson Pro"/>
                          <a:sym typeface="Crimson Pro"/>
                        </a:rPr>
                        <a:t>&lt; 0.001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Crimson Pro"/>
                          <a:ea typeface="Crimson Pro"/>
                          <a:cs typeface="Crimson Pro"/>
                          <a:sym typeface="Crimson Pro"/>
                        </a:rPr>
                        <a:t>Altamente Significativo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Crimson Pro"/>
                          <a:ea typeface="Crimson Pro"/>
                          <a:cs typeface="Crimson Pro"/>
                          <a:sym typeface="Crimson Pro"/>
                        </a:rPr>
                        <a:t>Against Grass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Crimson Pro"/>
                          <a:ea typeface="Crimson Pro"/>
                          <a:cs typeface="Crimson Pro"/>
                          <a:sym typeface="Crimson Pro"/>
                        </a:rPr>
                        <a:t>168.1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Crimson Pro"/>
                          <a:ea typeface="Crimson Pro"/>
                          <a:cs typeface="Crimson Pro"/>
                          <a:sym typeface="Crimson Pro"/>
                        </a:rPr>
                        <a:t>&lt; 0.001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Crimson Pro"/>
                          <a:ea typeface="Crimson Pro"/>
                          <a:cs typeface="Crimson Pro"/>
                          <a:sym typeface="Crimson Pro"/>
                        </a:rPr>
                        <a:t>Altamente Significativo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Crimson Pro"/>
                          <a:ea typeface="Crimson Pro"/>
                          <a:cs typeface="Crimson Pro"/>
                          <a:sym typeface="Crimson Pro"/>
                        </a:rPr>
                        <a:t>Resultados Globales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Crimson Pro"/>
                          <a:ea typeface="Crimson Pro"/>
                          <a:cs typeface="Crimson Pro"/>
                          <a:sym typeface="Crimson Pro"/>
                        </a:rPr>
                        <a:t>--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Crimson Pro"/>
                          <a:ea typeface="Crimson Pro"/>
                          <a:cs typeface="Crimson Pro"/>
                          <a:sym typeface="Crimson Pro"/>
                        </a:rPr>
                        <a:t>--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Crimson Pro"/>
                          <a:ea typeface="Crimson Pro"/>
                          <a:cs typeface="Crimson Pro"/>
                          <a:sym typeface="Crimson Pro"/>
                        </a:rPr>
                        <a:t>17 de 18 variables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2" name="Google Shape;402;p35"/>
          <p:cNvSpPr txBox="1"/>
          <p:nvPr/>
        </p:nvSpPr>
        <p:spPr>
          <a:xfrm>
            <a:off x="666750" y="4983360"/>
            <a:ext cx="109539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5088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Interpretación: Rechazamos H_0. Los clústeres son poblaciones estadísticamente distintas.</a:t>
            </a:r>
            <a:endParaRPr/>
          </a:p>
        </p:txBody>
      </p:sp>
      <p:sp>
        <p:nvSpPr>
          <p:cNvPr id="403" name="Google Shape;403;p35"/>
          <p:cNvSpPr/>
          <p:nvPr/>
        </p:nvSpPr>
        <p:spPr>
          <a:xfrm>
            <a:off x="666750" y="3843337"/>
            <a:ext cx="33748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5"/>
          <p:cNvSpPr/>
          <p:nvPr/>
        </p:nvSpPr>
        <p:spPr>
          <a:xfrm>
            <a:off x="4041576" y="3843337"/>
            <a:ext cx="21018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5"/>
          <p:cNvSpPr/>
          <p:nvPr/>
        </p:nvSpPr>
        <p:spPr>
          <a:xfrm>
            <a:off x="6143476" y="3843337"/>
            <a:ext cx="16198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7763321" y="3843337"/>
            <a:ext cx="38571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5"/>
          <p:cNvSpPr/>
          <p:nvPr/>
        </p:nvSpPr>
        <p:spPr>
          <a:xfrm>
            <a:off x="666750" y="4334767"/>
            <a:ext cx="33748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/>
          <p:nvPr/>
        </p:nvSpPr>
        <p:spPr>
          <a:xfrm>
            <a:off x="4041576" y="4334767"/>
            <a:ext cx="21018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5"/>
          <p:cNvSpPr/>
          <p:nvPr/>
        </p:nvSpPr>
        <p:spPr>
          <a:xfrm>
            <a:off x="6143476" y="4334767"/>
            <a:ext cx="16198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5"/>
          <p:cNvSpPr/>
          <p:nvPr/>
        </p:nvSpPr>
        <p:spPr>
          <a:xfrm>
            <a:off x="7763321" y="4334767"/>
            <a:ext cx="38571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5"/>
          <p:cNvSpPr/>
          <p:nvPr/>
        </p:nvSpPr>
        <p:spPr>
          <a:xfrm>
            <a:off x="666750" y="4826198"/>
            <a:ext cx="33748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5"/>
          <p:cNvSpPr/>
          <p:nvPr/>
        </p:nvSpPr>
        <p:spPr>
          <a:xfrm>
            <a:off x="4041576" y="4826198"/>
            <a:ext cx="21018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5"/>
          <p:cNvSpPr/>
          <p:nvPr/>
        </p:nvSpPr>
        <p:spPr>
          <a:xfrm>
            <a:off x="6143476" y="4826198"/>
            <a:ext cx="16198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5"/>
          <p:cNvSpPr/>
          <p:nvPr/>
        </p:nvSpPr>
        <p:spPr>
          <a:xfrm>
            <a:off x="7763321" y="4826198"/>
            <a:ext cx="38571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5"/>
          <p:cNvSpPr txBox="1"/>
          <p:nvPr/>
        </p:nvSpPr>
        <p:spPr>
          <a:xfrm>
            <a:off x="666750" y="571500"/>
            <a:ext cx="1150143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VALIDACIÓN NO PARAMÉTRICA</a:t>
            </a:r>
            <a:endParaRPr/>
          </a:p>
        </p:txBody>
      </p:sp>
      <p:sp>
        <p:nvSpPr>
          <p:cNvPr id="416" name="Google Shape;416;p35"/>
          <p:cNvSpPr/>
          <p:nvPr/>
        </p:nvSpPr>
        <p:spPr>
          <a:xfrm>
            <a:off x="666750" y="1085850"/>
            <a:ext cx="10953750" cy="1905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1" name="Google Shape;42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6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6"/>
          <p:cNvSpPr txBox="1"/>
          <p:nvPr/>
        </p:nvSpPr>
        <p:spPr>
          <a:xfrm>
            <a:off x="392906" y="2248941"/>
            <a:ext cx="1150143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CARTOGRAFÍA VISUAL DE DATOS</a:t>
            </a:r>
            <a:endParaRPr/>
          </a:p>
        </p:txBody>
      </p:sp>
      <p:sp>
        <p:nvSpPr>
          <p:cNvPr id="424" name="Google Shape;424;p36"/>
          <p:cNvSpPr txBox="1"/>
          <p:nvPr/>
        </p:nvSpPr>
        <p:spPr>
          <a:xfrm>
            <a:off x="2333625" y="2991891"/>
            <a:ext cx="7620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Crimson Pro"/>
                <a:ea typeface="Crimson Pro"/>
                <a:cs typeface="Crimson Pro"/>
                <a:sym typeface="Crimson Pro"/>
              </a:rPr>
              <a:t>Al proyectar los sprites sobre las coordenadas PCA, transformamos números abstractos en una herramienta de decisión visual para el usuario final.</a:t>
            </a:r>
            <a:endParaRPr/>
          </a:p>
        </p:txBody>
      </p:sp>
      <p:pic>
        <p:nvPicPr>
          <p:cNvPr id="425" name="Google Shape;425;p36" title="moltr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1463" y="3916850"/>
            <a:ext cx="2424325" cy="24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0" name="Google Shape;43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7"/>
          <p:cNvSpPr/>
          <p:nvPr/>
        </p:nvSpPr>
        <p:spPr>
          <a:xfrm>
            <a:off x="0" y="0"/>
            <a:ext cx="9540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7"/>
          <p:cNvSpPr/>
          <p:nvPr/>
        </p:nvSpPr>
        <p:spPr>
          <a:xfrm>
            <a:off x="666750" y="3843337"/>
            <a:ext cx="3374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7"/>
          <p:cNvSpPr/>
          <p:nvPr/>
        </p:nvSpPr>
        <p:spPr>
          <a:xfrm>
            <a:off x="4041576" y="3843337"/>
            <a:ext cx="2101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7"/>
          <p:cNvSpPr/>
          <p:nvPr/>
        </p:nvSpPr>
        <p:spPr>
          <a:xfrm>
            <a:off x="6143476" y="3843337"/>
            <a:ext cx="161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7"/>
          <p:cNvSpPr/>
          <p:nvPr/>
        </p:nvSpPr>
        <p:spPr>
          <a:xfrm>
            <a:off x="7763321" y="3843337"/>
            <a:ext cx="3857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7"/>
          <p:cNvSpPr/>
          <p:nvPr/>
        </p:nvSpPr>
        <p:spPr>
          <a:xfrm>
            <a:off x="666750" y="4334767"/>
            <a:ext cx="3374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7"/>
          <p:cNvSpPr/>
          <p:nvPr/>
        </p:nvSpPr>
        <p:spPr>
          <a:xfrm>
            <a:off x="4041576" y="4334767"/>
            <a:ext cx="2101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7"/>
          <p:cNvSpPr/>
          <p:nvPr/>
        </p:nvSpPr>
        <p:spPr>
          <a:xfrm>
            <a:off x="6143476" y="4334767"/>
            <a:ext cx="161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7"/>
          <p:cNvSpPr/>
          <p:nvPr/>
        </p:nvSpPr>
        <p:spPr>
          <a:xfrm>
            <a:off x="7763321" y="4334767"/>
            <a:ext cx="3857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7"/>
          <p:cNvSpPr/>
          <p:nvPr/>
        </p:nvSpPr>
        <p:spPr>
          <a:xfrm>
            <a:off x="666750" y="4826198"/>
            <a:ext cx="3374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7"/>
          <p:cNvSpPr/>
          <p:nvPr/>
        </p:nvSpPr>
        <p:spPr>
          <a:xfrm>
            <a:off x="4041576" y="4826198"/>
            <a:ext cx="2101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7"/>
          <p:cNvSpPr/>
          <p:nvPr/>
        </p:nvSpPr>
        <p:spPr>
          <a:xfrm>
            <a:off x="6143476" y="4826198"/>
            <a:ext cx="161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7"/>
          <p:cNvSpPr/>
          <p:nvPr/>
        </p:nvSpPr>
        <p:spPr>
          <a:xfrm>
            <a:off x="7763321" y="4826198"/>
            <a:ext cx="3857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7"/>
          <p:cNvSpPr txBox="1"/>
          <p:nvPr/>
        </p:nvSpPr>
        <p:spPr>
          <a:xfrm>
            <a:off x="666750" y="321825"/>
            <a:ext cx="11501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VALIDACIÓN </a:t>
            </a:r>
            <a:r>
              <a:rPr b="1" lang="en-US" sz="1000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VISUAL DEL MAPA</a:t>
            </a:r>
            <a:endParaRPr sz="100"/>
          </a:p>
        </p:txBody>
      </p:sp>
      <p:sp>
        <p:nvSpPr>
          <p:cNvPr id="445" name="Google Shape;445;p37"/>
          <p:cNvSpPr/>
          <p:nvPr/>
        </p:nvSpPr>
        <p:spPr>
          <a:xfrm>
            <a:off x="619050" y="536550"/>
            <a:ext cx="10953900" cy="192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p37" title="mapa_visual_tsne_GEN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5876" y="616575"/>
            <a:ext cx="7212699" cy="618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1" name="Google Shape;45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8"/>
          <p:cNvSpPr/>
          <p:nvPr/>
        </p:nvSpPr>
        <p:spPr>
          <a:xfrm>
            <a:off x="0" y="0"/>
            <a:ext cx="9540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8"/>
          <p:cNvSpPr/>
          <p:nvPr/>
        </p:nvSpPr>
        <p:spPr>
          <a:xfrm>
            <a:off x="666750" y="3843337"/>
            <a:ext cx="3374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8"/>
          <p:cNvSpPr/>
          <p:nvPr/>
        </p:nvSpPr>
        <p:spPr>
          <a:xfrm>
            <a:off x="4041576" y="3843337"/>
            <a:ext cx="2101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8"/>
          <p:cNvSpPr/>
          <p:nvPr/>
        </p:nvSpPr>
        <p:spPr>
          <a:xfrm>
            <a:off x="6143476" y="3843337"/>
            <a:ext cx="161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8"/>
          <p:cNvSpPr/>
          <p:nvPr/>
        </p:nvSpPr>
        <p:spPr>
          <a:xfrm>
            <a:off x="7763321" y="3843337"/>
            <a:ext cx="3857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8"/>
          <p:cNvSpPr/>
          <p:nvPr/>
        </p:nvSpPr>
        <p:spPr>
          <a:xfrm>
            <a:off x="666750" y="4334767"/>
            <a:ext cx="3374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8"/>
          <p:cNvSpPr/>
          <p:nvPr/>
        </p:nvSpPr>
        <p:spPr>
          <a:xfrm>
            <a:off x="4041576" y="4334767"/>
            <a:ext cx="2101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8"/>
          <p:cNvSpPr/>
          <p:nvPr/>
        </p:nvSpPr>
        <p:spPr>
          <a:xfrm>
            <a:off x="6143476" y="4334767"/>
            <a:ext cx="161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8"/>
          <p:cNvSpPr/>
          <p:nvPr/>
        </p:nvSpPr>
        <p:spPr>
          <a:xfrm>
            <a:off x="7763321" y="4334767"/>
            <a:ext cx="3857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8"/>
          <p:cNvSpPr/>
          <p:nvPr/>
        </p:nvSpPr>
        <p:spPr>
          <a:xfrm>
            <a:off x="666750" y="4826198"/>
            <a:ext cx="3374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8"/>
          <p:cNvSpPr/>
          <p:nvPr/>
        </p:nvSpPr>
        <p:spPr>
          <a:xfrm>
            <a:off x="4041576" y="4826198"/>
            <a:ext cx="2101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8"/>
          <p:cNvSpPr/>
          <p:nvPr/>
        </p:nvSpPr>
        <p:spPr>
          <a:xfrm>
            <a:off x="6143476" y="4826198"/>
            <a:ext cx="161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8"/>
          <p:cNvSpPr/>
          <p:nvPr/>
        </p:nvSpPr>
        <p:spPr>
          <a:xfrm>
            <a:off x="7763321" y="4826198"/>
            <a:ext cx="3857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8"/>
          <p:cNvSpPr txBox="1"/>
          <p:nvPr/>
        </p:nvSpPr>
        <p:spPr>
          <a:xfrm>
            <a:off x="666750" y="321825"/>
            <a:ext cx="11501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VALIDACIÓN </a:t>
            </a:r>
            <a:r>
              <a:rPr b="1" lang="en-US" sz="1000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VISUAL DEL MAPA</a:t>
            </a:r>
            <a:endParaRPr sz="100"/>
          </a:p>
        </p:txBody>
      </p:sp>
      <p:sp>
        <p:nvSpPr>
          <p:cNvPr id="466" name="Google Shape;466;p38"/>
          <p:cNvSpPr/>
          <p:nvPr/>
        </p:nvSpPr>
        <p:spPr>
          <a:xfrm>
            <a:off x="619050" y="536550"/>
            <a:ext cx="10953900" cy="192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7" name="Google Shape;467;p38" title="mapa_visual_GEN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4837" y="669150"/>
            <a:ext cx="7102326" cy="608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2" name="Google Shape;47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3" name="Google Shape;473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571500"/>
            <a:ext cx="1095375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39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9"/>
          <p:cNvSpPr txBox="1"/>
          <p:nvPr/>
        </p:nvSpPr>
        <p:spPr>
          <a:xfrm>
            <a:off x="392906" y="2554634"/>
            <a:ext cx="1150143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CFAF2"/>
                </a:solidFill>
                <a:latin typeface="Montserrat"/>
                <a:ea typeface="Montserrat"/>
                <a:cs typeface="Montserrat"/>
                <a:sym typeface="Montserrat"/>
              </a:rPr>
              <a:t>APLICACIONES ESTRATÉGICAS</a:t>
            </a:r>
            <a:endParaRPr/>
          </a:p>
        </p:txBody>
      </p:sp>
      <p:sp>
        <p:nvSpPr>
          <p:cNvPr id="476" name="Google Shape;476;p39"/>
          <p:cNvSpPr/>
          <p:nvPr/>
        </p:nvSpPr>
        <p:spPr>
          <a:xfrm>
            <a:off x="5667375" y="3535709"/>
            <a:ext cx="952500" cy="47625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9"/>
          <p:cNvSpPr txBox="1"/>
          <p:nvPr/>
        </p:nvSpPr>
        <p:spPr>
          <a:xfrm>
            <a:off x="666750" y="3869084"/>
            <a:ext cx="10953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Crimson Pro"/>
                <a:ea typeface="Crimson Pro"/>
                <a:cs typeface="Crimson Pro"/>
                <a:sym typeface="Crimson Pro"/>
              </a:rPr>
              <a:t>Optimizando al Entrenador y al Speedrunner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2" name="Google Shape;48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0" title="pca_clusters_GEN 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88375"/>
            <a:ext cx="5286375" cy="37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4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0"/>
          <p:cNvSpPr txBox="1"/>
          <p:nvPr/>
        </p:nvSpPr>
        <p:spPr>
          <a:xfrm>
            <a:off x="666750" y="233332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SINERGIA DE CORE Y PIVOTE</a:t>
            </a:r>
            <a:endParaRPr/>
          </a:p>
        </p:txBody>
      </p:sp>
      <p:sp>
        <p:nvSpPr>
          <p:cNvPr id="486" name="Google Shape;486;p40"/>
          <p:cNvSpPr txBox="1"/>
          <p:nvPr/>
        </p:nvSpPr>
        <p:spPr>
          <a:xfrm>
            <a:off x="666750" y="2552402"/>
            <a:ext cx="5286375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Un equipo eficiente debe evitar la redundancia inter-cluster. Si tu Pokémon líder pertenece al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Cluster Verde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, tu segundo Pokémon debe residir en el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Cluster Amarillo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 o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Morado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.</a:t>
            </a:r>
            <a:endParaRPr/>
          </a:p>
        </p:txBody>
      </p:sp>
      <p:sp>
        <p:nvSpPr>
          <p:cNvPr id="487" name="Google Shape;487;p40"/>
          <p:cNvSpPr txBox="1"/>
          <p:nvPr/>
        </p:nvSpPr>
        <p:spPr>
          <a:xfrm>
            <a:off x="1000125" y="3464718"/>
            <a:ext cx="495300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Pivotes Defensivos: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 Seleccionar especímenes de clústeres opuestos en PCA.</a:t>
            </a:r>
            <a:endParaRPr/>
          </a:p>
        </p:txBody>
      </p:sp>
      <p:sp>
        <p:nvSpPr>
          <p:cNvPr id="488" name="Google Shape;488;p40"/>
          <p:cNvSpPr txBox="1"/>
          <p:nvPr/>
        </p:nvSpPr>
        <p:spPr>
          <a:xfrm>
            <a:off x="1000125" y="4085629"/>
            <a:ext cx="49530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Cobertura Máxima: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 Minimizar la intersección de debilidades extremas (4.0</a:t>
            </a:r>
            <a:r>
              <a:rPr lang="en-US" sz="1425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x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).</a:t>
            </a:r>
            <a:endParaRPr/>
          </a:p>
        </p:txBody>
      </p:sp>
      <p:pic>
        <p:nvPicPr>
          <p:cNvPr descr="image.png" id="489" name="Google Shape;489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498056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0" name="Google Shape;490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411896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40"/>
          <p:cNvSpPr txBox="1"/>
          <p:nvPr/>
        </p:nvSpPr>
        <p:spPr>
          <a:xfrm>
            <a:off x="666750" y="571500"/>
            <a:ext cx="1150143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ESTRATEGIA PARA EL ENTRENADOR</a:t>
            </a:r>
            <a:endParaRPr/>
          </a:p>
        </p:txBody>
      </p:sp>
      <p:sp>
        <p:nvSpPr>
          <p:cNvPr id="492" name="Google Shape;492;p40"/>
          <p:cNvSpPr/>
          <p:nvPr/>
        </p:nvSpPr>
        <p:spPr>
          <a:xfrm>
            <a:off x="666750" y="1085850"/>
            <a:ext cx="10953750" cy="1905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7" name="Google Shape;49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1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41"/>
          <p:cNvSpPr txBox="1"/>
          <p:nvPr/>
        </p:nvSpPr>
        <p:spPr>
          <a:xfrm>
            <a:off x="1000125" y="3217664"/>
            <a:ext cx="106203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Reducción Efectiva: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 Logramos condensar 18 dimensiones en un plano 2D conservando la esencia biológica de los datos.</a:t>
            </a:r>
            <a:endParaRPr/>
          </a:p>
        </p:txBody>
      </p:sp>
      <p:sp>
        <p:nvSpPr>
          <p:cNvPr id="500" name="Google Shape;500;p41"/>
          <p:cNvSpPr txBox="1"/>
          <p:nvPr/>
        </p:nvSpPr>
        <p:spPr>
          <a:xfrm>
            <a:off x="1000125" y="3585269"/>
            <a:ext cx="106203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Validación Robusta: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 La segmentación algorítmica es estadísticamente superior a la clasificación manual tradicional.</a:t>
            </a:r>
            <a:endParaRPr/>
          </a:p>
        </p:txBody>
      </p:sp>
      <p:sp>
        <p:nvSpPr>
          <p:cNvPr id="501" name="Google Shape;501;p41"/>
          <p:cNvSpPr txBox="1"/>
          <p:nvPr/>
        </p:nvSpPr>
        <p:spPr>
          <a:xfrm>
            <a:off x="1000125" y="3952875"/>
            <a:ext cx="106203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Paradigma de Eficiencia: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 "Atraparlos a todos" es una heurística obsoleta; "atrapa los puntos críticos de los clústeres" es la norma para la analítica de datos moderna.</a:t>
            </a:r>
            <a:endParaRPr/>
          </a:p>
        </p:txBody>
      </p:sp>
      <p:pic>
        <p:nvPicPr>
          <p:cNvPr descr="image.png" id="502" name="Google Shape;50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325100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3" name="Google Shape;503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61860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4" name="Google Shape;504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398621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1"/>
          <p:cNvSpPr txBox="1"/>
          <p:nvPr/>
        </p:nvSpPr>
        <p:spPr>
          <a:xfrm>
            <a:off x="666750" y="571500"/>
            <a:ext cx="1150143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CONCLUSIONES CIENTÍFICAS</a:t>
            </a:r>
            <a:endParaRPr/>
          </a:p>
        </p:txBody>
      </p:sp>
      <p:sp>
        <p:nvSpPr>
          <p:cNvPr id="506" name="Google Shape;506;p41"/>
          <p:cNvSpPr/>
          <p:nvPr/>
        </p:nvSpPr>
        <p:spPr>
          <a:xfrm>
            <a:off x="666750" y="1085850"/>
            <a:ext cx="10953750" cy="1905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1" name="Google Shape;51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2" name="Google Shape;51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571500"/>
            <a:ext cx="1095375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42"/>
          <p:cNvSpPr txBox="1"/>
          <p:nvPr/>
        </p:nvSpPr>
        <p:spPr>
          <a:xfrm>
            <a:off x="392906" y="1795611"/>
            <a:ext cx="1150143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CFAF2"/>
                </a:solidFill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/>
          </a:p>
        </p:txBody>
      </p:sp>
      <p:sp>
        <p:nvSpPr>
          <p:cNvPr id="515" name="Google Shape;515;p42"/>
          <p:cNvSpPr/>
          <p:nvPr/>
        </p:nvSpPr>
        <p:spPr>
          <a:xfrm>
            <a:off x="5667375" y="2776686"/>
            <a:ext cx="952500" cy="47625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2"/>
          <p:cNvSpPr txBox="1"/>
          <p:nvPr/>
        </p:nvSpPr>
        <p:spPr>
          <a:xfrm>
            <a:off x="666750" y="3110061"/>
            <a:ext cx="10953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Ana Milena Uribe, Alejandro Quintero, Francisco Mario Campo, Pablo Stevens Casilimas, Mario Bermúdez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 | Maestría en Analítica de Datos</a:t>
            </a:r>
            <a:endParaRPr sz="1100"/>
          </a:p>
        </p:txBody>
      </p:sp>
      <p:sp>
        <p:nvSpPr>
          <p:cNvPr id="517" name="Google Shape;517;p42"/>
          <p:cNvSpPr txBox="1"/>
          <p:nvPr/>
        </p:nvSpPr>
        <p:spPr>
          <a:xfrm>
            <a:off x="1619250" y="3715791"/>
            <a:ext cx="9048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Crimson Pro"/>
                <a:ea typeface="Crimson Pro"/>
                <a:cs typeface="Crimson Pro"/>
                <a:sym typeface="Crimson Pro"/>
              </a:rPr>
              <a:t>Bibliografía Seleccionada:</a:t>
            </a:r>
            <a:endParaRPr/>
          </a:p>
        </p:txBody>
      </p:sp>
      <p:sp>
        <p:nvSpPr>
          <p:cNvPr id="518" name="Google Shape;518;p42"/>
          <p:cNvSpPr txBox="1"/>
          <p:nvPr/>
        </p:nvSpPr>
        <p:spPr>
          <a:xfrm>
            <a:off x="1924050" y="4167217"/>
            <a:ext cx="76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•</a:t>
            </a:r>
            <a:endParaRPr/>
          </a:p>
        </p:txBody>
      </p:sp>
      <p:sp>
        <p:nvSpPr>
          <p:cNvPr id="519" name="Google Shape;519;p42"/>
          <p:cNvSpPr txBox="1"/>
          <p:nvPr/>
        </p:nvSpPr>
        <p:spPr>
          <a:xfrm>
            <a:off x="2000250" y="4169122"/>
            <a:ext cx="86679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25" u="none" cap="none" strike="noStrike">
                <a:solidFill>
                  <a:schemeClr val="lt1"/>
                </a:solidFill>
                <a:latin typeface="Crimson Pro"/>
                <a:ea typeface="Crimson Pro"/>
                <a:cs typeface="Crimson Pro"/>
                <a:sym typeface="Crimson Pro"/>
              </a:rPr>
              <a:t>Arthur, D., &amp; Vassilvitskii, S. (2007). k-means++: The advantages of careful seeding.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20" name="Google Shape;520;p42"/>
          <p:cNvSpPr txBox="1"/>
          <p:nvPr/>
        </p:nvSpPr>
        <p:spPr>
          <a:xfrm>
            <a:off x="1924050" y="4420522"/>
            <a:ext cx="76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•</a:t>
            </a:r>
            <a:endParaRPr/>
          </a:p>
        </p:txBody>
      </p:sp>
      <p:sp>
        <p:nvSpPr>
          <p:cNvPr id="521" name="Google Shape;521;p42"/>
          <p:cNvSpPr txBox="1"/>
          <p:nvPr/>
        </p:nvSpPr>
        <p:spPr>
          <a:xfrm>
            <a:off x="2000250" y="4422427"/>
            <a:ext cx="86679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chemeClr val="lt1"/>
                </a:solidFill>
                <a:latin typeface="Crimson Pro"/>
                <a:ea typeface="Crimson Pro"/>
                <a:cs typeface="Crimson Pro"/>
                <a:sym typeface="Crimson Pro"/>
              </a:rPr>
              <a:t>Maaten, L. van der, &amp; Hinton, G. (2008). Visualizing Data using t-SNE.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22" name="Google Shape;522;p42"/>
          <p:cNvSpPr txBox="1"/>
          <p:nvPr/>
        </p:nvSpPr>
        <p:spPr>
          <a:xfrm>
            <a:off x="1924050" y="4673828"/>
            <a:ext cx="76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•</a:t>
            </a:r>
            <a:endParaRPr/>
          </a:p>
        </p:txBody>
      </p:sp>
      <p:sp>
        <p:nvSpPr>
          <p:cNvPr id="523" name="Google Shape;523;p42"/>
          <p:cNvSpPr txBox="1"/>
          <p:nvPr/>
        </p:nvSpPr>
        <p:spPr>
          <a:xfrm>
            <a:off x="2000250" y="4675733"/>
            <a:ext cx="86679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chemeClr val="lt1"/>
                </a:solidFill>
                <a:latin typeface="Crimson Pro"/>
                <a:ea typeface="Crimson Pro"/>
                <a:cs typeface="Crimson Pro"/>
                <a:sym typeface="Crimson Pro"/>
              </a:rPr>
              <a:t>Kruskal, W. H., &amp; Wallis, W. A. (1952). Use of ranks in one-criterion variance analysis.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8" name="Google Shape;52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3"/>
          <p:cNvSpPr/>
          <p:nvPr/>
        </p:nvSpPr>
        <p:spPr>
          <a:xfrm>
            <a:off x="0" y="0"/>
            <a:ext cx="9540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3"/>
          <p:cNvSpPr txBox="1"/>
          <p:nvPr/>
        </p:nvSpPr>
        <p:spPr>
          <a:xfrm>
            <a:off x="666750" y="571500"/>
            <a:ext cx="1150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ANÁLISIS DEL RESULTADO GRUPAL - Borrador</a:t>
            </a:r>
            <a:endParaRPr/>
          </a:p>
        </p:txBody>
      </p:sp>
      <p:sp>
        <p:nvSpPr>
          <p:cNvPr id="531" name="Google Shape;531;p43"/>
          <p:cNvSpPr/>
          <p:nvPr/>
        </p:nvSpPr>
        <p:spPr>
          <a:xfrm>
            <a:off x="666750" y="1085850"/>
            <a:ext cx="10953900" cy="192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3"/>
          <p:cNvSpPr/>
          <p:nvPr/>
        </p:nvSpPr>
        <p:spPr>
          <a:xfrm>
            <a:off x="794550" y="1827700"/>
            <a:ext cx="4832400" cy="192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3"/>
          <p:cNvSpPr txBox="1"/>
          <p:nvPr/>
        </p:nvSpPr>
        <p:spPr>
          <a:xfrm>
            <a:off x="973525" y="1941600"/>
            <a:ext cx="42465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🎯  Agrupación por tipo </a:t>
            </a:r>
            <a:endParaRPr b="1">
              <a:solidFill>
                <a:srgbClr val="F5C5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005088"/>
                </a:solidFill>
                <a:latin typeface="Calibri"/>
                <a:ea typeface="Calibri"/>
                <a:cs typeface="Calibri"/>
                <a:sym typeface="Calibri"/>
              </a:rPr>
              <a:t>Los Pokémon se agrupan principalmente según sus tipos elementales. Esto confirma que las resistencias son altamente determinadas por el tipo (ej. Pokémon de Agua comparten vulnerabilidades similares).</a:t>
            </a:r>
            <a:endParaRPr sz="1200">
              <a:solidFill>
                <a:srgbClr val="0050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43"/>
          <p:cNvSpPr/>
          <p:nvPr/>
        </p:nvSpPr>
        <p:spPr>
          <a:xfrm>
            <a:off x="6186025" y="1827700"/>
            <a:ext cx="4832400" cy="192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43"/>
          <p:cNvSpPr txBox="1"/>
          <p:nvPr/>
        </p:nvSpPr>
        <p:spPr>
          <a:xfrm>
            <a:off x="6365000" y="1941600"/>
            <a:ext cx="42465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📊  Validez estadística</a:t>
            </a:r>
            <a:endParaRPr b="1">
              <a:solidFill>
                <a:srgbClr val="F5C5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5C5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005088"/>
                </a:solidFill>
                <a:latin typeface="Calibri"/>
                <a:ea typeface="Calibri"/>
                <a:cs typeface="Calibri"/>
                <a:sym typeface="Calibri"/>
              </a:rPr>
              <a:t>Las 18 variables muestran diferencias significativas entre clusters (Kruskal-Wallis p &lt; 0.05), lo que valida que los grupos son estadísticamente distintos y no producto del azar.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43"/>
          <p:cNvSpPr/>
          <p:nvPr/>
        </p:nvSpPr>
        <p:spPr>
          <a:xfrm>
            <a:off x="759825" y="4184750"/>
            <a:ext cx="4832400" cy="192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3"/>
          <p:cNvSpPr txBox="1"/>
          <p:nvPr/>
        </p:nvSpPr>
        <p:spPr>
          <a:xfrm>
            <a:off x="938800" y="4298650"/>
            <a:ext cx="42465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🔍  Limitaciones del modelo</a:t>
            </a:r>
            <a:endParaRPr b="1">
              <a:solidFill>
                <a:srgbClr val="F5C5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5C5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005088"/>
                </a:solidFill>
                <a:latin typeface="Calibri"/>
                <a:ea typeface="Calibri"/>
                <a:cs typeface="Calibri"/>
                <a:sym typeface="Calibri"/>
              </a:rPr>
              <a:t>Pokémon con tipo doble (ej. Charizard = Fuego/Volador) o resistencias únicas (tipo Fantasma/Veneno) pueden ubicarse en zonas de transición entre clusters.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50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3"/>
          <p:cNvSpPr/>
          <p:nvPr/>
        </p:nvSpPr>
        <p:spPr>
          <a:xfrm>
            <a:off x="6186025" y="4223250"/>
            <a:ext cx="4832400" cy="192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3"/>
          <p:cNvSpPr txBox="1"/>
          <p:nvPr/>
        </p:nvSpPr>
        <p:spPr>
          <a:xfrm>
            <a:off x="6365000" y="4337150"/>
            <a:ext cx="42465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🚀  Proyección futura</a:t>
            </a:r>
            <a:endParaRPr b="1">
              <a:solidFill>
                <a:srgbClr val="F5C5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50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005088"/>
                </a:solidFill>
                <a:latin typeface="Calibri"/>
                <a:ea typeface="Calibri"/>
                <a:cs typeface="Calibri"/>
                <a:sym typeface="Calibri"/>
              </a:rPr>
              <a:t>Incluir todas las generaciones, stats base (HP, Ataque, etc.) y añadir DBSCAN para detectar Pokémon legendarios como outliers naturales del dataset.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50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4" name="Google Shape;54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4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44"/>
          <p:cNvSpPr/>
          <p:nvPr/>
        </p:nvSpPr>
        <p:spPr>
          <a:xfrm>
            <a:off x="666750" y="1463129"/>
            <a:ext cx="109537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44"/>
          <p:cNvSpPr/>
          <p:nvPr/>
        </p:nvSpPr>
        <p:spPr>
          <a:xfrm>
            <a:off x="666750" y="2225129"/>
            <a:ext cx="109537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44"/>
          <p:cNvSpPr/>
          <p:nvPr/>
        </p:nvSpPr>
        <p:spPr>
          <a:xfrm>
            <a:off x="666750" y="2225129"/>
            <a:ext cx="109537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49" name="Google Shape;54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60600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4"/>
          <p:cNvSpPr txBox="1"/>
          <p:nvPr/>
        </p:nvSpPr>
        <p:spPr>
          <a:xfrm>
            <a:off x="1762125" y="1626989"/>
            <a:ext cx="98583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https://upload.wikimedia.org/wikipedia/commons/thumb/9/97/Pokemon_Type_Chart.svg/500px-Pokemon_Type_Chart.svg.png?_=20260412142054</a:t>
            </a:r>
            <a:endParaRPr/>
          </a:p>
        </p:txBody>
      </p:sp>
      <p:sp>
        <p:nvSpPr>
          <p:cNvPr id="551" name="Google Shape;551;p44"/>
          <p:cNvSpPr txBox="1"/>
          <p:nvPr/>
        </p:nvSpPr>
        <p:spPr>
          <a:xfrm>
            <a:off x="1762125" y="1847850"/>
            <a:ext cx="98583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Crimson Pro"/>
                <a:ea typeface="Crimson Pro"/>
                <a:cs typeface="Crimson Pro"/>
                <a:sym typeface="Crimson Pro"/>
              </a:rPr>
              <a:t>commons.wikimedia.org</a:t>
            </a:r>
            <a:endParaRPr/>
          </a:p>
        </p:txBody>
      </p:sp>
      <p:sp>
        <p:nvSpPr>
          <p:cNvPr id="552" name="Google Shape;552;p44"/>
          <p:cNvSpPr txBox="1"/>
          <p:nvPr/>
        </p:nvSpPr>
        <p:spPr>
          <a:xfrm>
            <a:off x="666750" y="571500"/>
            <a:ext cx="1150143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553" name="Google Shape;553;p44"/>
          <p:cNvSpPr/>
          <p:nvPr/>
        </p:nvSpPr>
        <p:spPr>
          <a:xfrm>
            <a:off x="666750" y="1085850"/>
            <a:ext cx="10953750" cy="1905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44"/>
          <p:cNvSpPr/>
          <p:nvPr/>
        </p:nvSpPr>
        <p:spPr>
          <a:xfrm>
            <a:off x="666675" y="2225137"/>
            <a:ext cx="109539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4"/>
          <p:cNvSpPr/>
          <p:nvPr/>
        </p:nvSpPr>
        <p:spPr>
          <a:xfrm>
            <a:off x="666675" y="2225137"/>
            <a:ext cx="109539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56" name="Google Shape;556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675" y="23775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44"/>
          <p:cNvSpPr txBox="1"/>
          <p:nvPr/>
        </p:nvSpPr>
        <p:spPr>
          <a:xfrm>
            <a:off x="1762050" y="2398522"/>
            <a:ext cx="9858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https://preview.redd.it/presenting-pok%C3%A9mon-data-science-project-v0-06o581ivrxie1.jpg?width=640&amp;crop=smart&amp;auto=webp&amp;s=fc8da030b38877af2e73a927f3039b3a20b5037d</a:t>
            </a:r>
            <a:endParaRPr/>
          </a:p>
        </p:txBody>
      </p:sp>
      <p:sp>
        <p:nvSpPr>
          <p:cNvPr id="558" name="Google Shape;558;p44"/>
          <p:cNvSpPr txBox="1"/>
          <p:nvPr/>
        </p:nvSpPr>
        <p:spPr>
          <a:xfrm>
            <a:off x="1762050" y="2619383"/>
            <a:ext cx="9858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rimson Pro"/>
                <a:ea typeface="Crimson Pro"/>
                <a:cs typeface="Crimson Pro"/>
                <a:sym typeface="Crimson Pr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Crimson Pro"/>
                <a:ea typeface="Crimson Pro"/>
                <a:cs typeface="Crimson Pro"/>
                <a:sym typeface="Crimson Pro"/>
              </a:rPr>
              <a:t>www.reddit.com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